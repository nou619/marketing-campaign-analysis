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Missing %</c:v>
                </c:pt>
              </c:strCache>
            </c:strRef>
          </c:tx>
          <c:spPr>
            <a:solidFill>
              <a:srgbClr val="EC48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55F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855F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revenue</c:v>
                  </c:pt>
                  <c:pt idx="1">
                    <c:v>spend</c:v>
                  </c:pt>
                  <c:pt idx="2">
                    <c:v>views</c:v>
                  </c:pt>
                  <c:pt idx="3">
                    <c:v>clicks</c:v>
                  </c:pt>
                  <c:pt idx="4">
                    <c:v>conversions</c:v>
                  </c:pt>
                  <c:pt idx="5">
                    <c:v>date</c:v>
                  </c:pt>
                  <c:pt idx="6">
                    <c:v>channel</c:v>
                  </c:pt>
                  <c:pt idx="7">
                    <c:v>campaign_name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18.5</c:v>
                </c:pt>
                <c:pt idx="1">
                  <c:v>12.3</c:v>
                </c:pt>
                <c:pt idx="2">
                  <c:v>9.8</c:v>
                </c:pt>
                <c:pt idx="3">
                  <c:v>7.6</c:v>
                </c:pt>
                <c:pt idx="4">
                  <c:v>6.2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</c:scaling>
        <c:delete val="0"/>
        <c:axPos val="b"/>
        <c:majorGridlines>
          <c:spPr>
            <a:ln w="9525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72A"/>
        </a:solidFill>
        <a:ln>
          <a:noFill/>
        </a:ln>
        <a:effectLst/>
      </c:spPr>
    </c:plotArea>
    <c:plotVisOnly val="1"/>
    <c:dispBlanksAs val="span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Handling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C4899"/>
              </a:solidFill>
              <a:effectLst/>
            </c:spPr>
          </c:dPt>
          <c:dPt>
            <c:idx val="1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bubble3D val="0"/>
            <c:spPr>
              <a:solidFill>
                <a:srgbClr val="EF4444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Group Median Imputation</c:v>
                </c:pt>
                <c:pt idx="1">
                  <c:v>Structural Zero (0 conv → 0 rev)</c:v>
                </c:pt>
                <c:pt idx="2">
                  <c:v>Left as NaN (revenue bias risk)</c:v>
                </c:pt>
                <c:pt idx="3">
                  <c:v>Flag Created for Tracking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54</c:v>
                </c:pt>
                <c:pt idx="1">
                  <c:v>18</c:v>
                </c:pt>
                <c:pt idx="2">
                  <c:v>19</c:v>
                </c:pt>
                <c:pt idx="3">
                  <c:v>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Campaigns</c:v>
                </c:pt>
              </c:strCache>
            </c:strRef>
          </c:tx>
          <c:spPr>
            <a:solidFill>
              <a:srgbClr val="EC48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55F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social_media</c:v>
                  </c:pt>
                  <c:pt idx="1">
                    <c:v>email</c:v>
                  </c:pt>
                  <c:pt idx="2">
                    <c:v>influencer</c:v>
                  </c:pt>
                  <c:pt idx="3">
                    <c:v>paid_search</c:v>
                  </c:pt>
                  <c:pt idx="4">
                    <c:v>display</c:v>
                  </c:pt>
                  <c:pt idx="5">
                    <c:v>affiliate</c:v>
                  </c:pt>
                  <c:pt idx="6">
                    <c:v>tv</c:v>
                  </c:pt>
                  <c:pt idx="7">
                    <c:v>podcast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342</c:v>
                </c:pt>
                <c:pt idx="1">
                  <c:v>289</c:v>
                </c:pt>
                <c:pt idx="2">
                  <c:v>254</c:v>
                </c:pt>
                <c:pt idx="3">
                  <c:v>198</c:v>
                </c:pt>
                <c:pt idx="4">
                  <c:v>167</c:v>
                </c:pt>
                <c:pt idx="5">
                  <c:v>143</c:v>
                </c:pt>
                <c:pt idx="6">
                  <c:v>112</c:v>
                </c:pt>
                <c:pt idx="7">
                  <c:v>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72A"/>
        </a:solidFill>
        <a:ln>
          <a:noFill/>
        </a:ln>
        <a:effectLst/>
      </c:spPr>
    </c:plotArea>
    <c:plotVisOnly val="1"/>
    <c:dispBlanksAs val="span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per Campaign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55F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Views / Impressions</c:v>
                  </c:pt>
                  <c:pt idx="1">
                    <c:v>Clicks</c:v>
                  </c:pt>
                  <c:pt idx="2">
                    <c:v>Conversions</c:v>
                  </c:pt>
                  <c:pt idx="3">
                    <c:v>Revenue ($)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45200</c:v>
                </c:pt>
                <c:pt idx="1">
                  <c:v>3840</c:v>
                </c:pt>
                <c:pt idx="2">
                  <c:v>286</c:v>
                </c:pt>
                <c:pt idx="3">
                  <c:v>12400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72A"/>
        </a:solidFill>
        <a:ln>
          <a:noFill/>
        </a:ln>
        <a:effectLst/>
      </c:spPr>
    </c:plotArea>
    <c:plotVisOnly val="1"/>
    <c:dispBlanksAs val="span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Campaigns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$0–500</c:v>
                  </c:pt>
                  <c:pt idx="1">
                    <c:v>$500–1K</c:v>
                  </c:pt>
                  <c:pt idx="2">
                    <c:v>$1K–2K</c:v>
                  </c:pt>
                  <c:pt idx="3">
                    <c:v>$2K–5K</c:v>
                  </c:pt>
                  <c:pt idx="4">
                    <c:v>$5K–10K</c:v>
                  </c:pt>
                  <c:pt idx="5">
                    <c:v>$10K–25K</c:v>
                  </c:pt>
                  <c:pt idx="6">
                    <c:v>$25K–50K</c:v>
                  </c:pt>
                  <c:pt idx="7">
                    <c:v>$50K+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45</c:v>
                </c:pt>
                <c:pt idx="1">
                  <c:v>112</c:v>
                </c:pt>
                <c:pt idx="2">
                  <c:v>198</c:v>
                </c:pt>
                <c:pt idx="3">
                  <c:v>287</c:v>
                </c:pt>
                <c:pt idx="4">
                  <c:v>203</c:v>
                </c:pt>
                <c:pt idx="5">
                  <c:v>134</c:v>
                </c:pt>
                <c:pt idx="6">
                  <c:v>67</c:v>
                </c:pt>
                <c:pt idx="7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72A"/>
        </a:solidFill>
        <a:ln>
          <a:noFill/>
        </a:ln>
        <a:effectLst/>
      </c:spPr>
    </c:plotArea>
    <c:plotVisOnly val="1"/>
    <c:dispBlanksAs val="span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C4899"/>
              </a:solidFill>
              <a:effectLst/>
            </c:spPr>
          </c:dPt>
          <c:dPt>
            <c:idx val="1"/>
            <c:bubble3D val="0"/>
            <c:spPr>
              <a:solidFill>
                <a:srgbClr val="A855F7"/>
              </a:solidFill>
              <a:effectLst/>
            </c:spPr>
          </c:dPt>
          <c:dPt>
            <c:idx val="2"/>
            <c:bubble3D val="0"/>
            <c:spPr>
              <a:solidFill>
                <a:srgbClr val="06B6D4"/>
              </a:solidFill>
              <a:effectLst/>
            </c:spPr>
          </c:dPt>
          <c:dPt>
            <c:idx val="3"/>
            <c:bubble3D val="0"/>
            <c:spPr>
              <a:solidFill>
                <a:srgbClr val="10B981"/>
              </a:solidFill>
              <a:effectLst/>
            </c:spPr>
          </c:dPt>
          <c:dPt>
            <c:idx val="4"/>
            <c:bubble3D val="0"/>
            <c:spPr>
              <a:solidFill>
                <a:srgbClr val="F59E0B"/>
              </a:solidFill>
              <a:effectLst/>
            </c:spPr>
          </c:dPt>
          <c:dPt>
            <c:idx val="5"/>
            <c:bubble3D val="0"/>
            <c:spPr>
              <a:solidFill>
                <a:srgbClr val="EF4444"/>
              </a:solidFill>
              <a:effectLst/>
            </c:spPr>
          </c:dPt>
          <c:dPt>
            <c:idx val="6"/>
            <c:bubble3D val="0"/>
            <c:spPr>
              <a:solidFill>
                <a:srgbClr val="8B5CF6"/>
              </a:solidFill>
              <a:effectLst/>
            </c:spPr>
          </c:dPt>
          <c:dPt>
            <c:idx val="7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Hydration Series</c:v>
                </c:pt>
                <c:pt idx="1">
                  <c:v>Anti-Aging Pro</c:v>
                </c:pt>
                <c:pt idx="2">
                  <c:v>Summer Glow</c:v>
                </c:pt>
                <c:pt idx="3">
                  <c:v>SPF Daily</c:v>
                </c:pt>
                <c:pt idx="4">
                  <c:v>Night Repair</c:v>
                </c:pt>
                <c:pt idx="5">
                  <c:v>Sensitive Skin</c:v>
                </c:pt>
                <c:pt idx="6">
                  <c:v>Vitamin C Boost</c:v>
                </c:pt>
                <c:pt idx="7">
                  <c:v>Other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24</c:v>
                </c:pt>
                <c:pt idx="1">
                  <c:v>18</c:v>
                </c:pt>
                <c:pt idx="2">
                  <c:v>15</c:v>
                </c:pt>
                <c:pt idx="3">
                  <c:v>13</c:v>
                </c:pt>
                <c:pt idx="4">
                  <c:v>11</c:v>
                </c:pt>
                <c:pt idx="5">
                  <c:v>9</c:v>
                </c:pt>
                <c:pt idx="6">
                  <c:v>7</c:v>
                </c:pt>
                <c:pt idx="7">
                  <c:v>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Cleaning</c:v>
                </c:pt>
              </c:strCache>
            </c:strRef>
          </c:tx>
          <c:spPr>
            <a:solidFill>
              <a:srgbClr val="4B55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Completeness %</c:v>
                  </c:pt>
                  <c:pt idx="1">
                    <c:v>Format Consistency %</c:v>
                  </c:pt>
                  <c:pt idx="2">
                    <c:v>No Duplicates %</c:v>
                  </c:pt>
                  <c:pt idx="3">
                    <c:v>Type Correctness %</c:v>
                  </c:pt>
                  <c:pt idx="4">
                    <c:v>Value Validity 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74</c:v>
                </c:pt>
                <c:pt idx="1">
                  <c:v>61</c:v>
                </c:pt>
                <c:pt idx="2">
                  <c:v>97</c:v>
                </c:pt>
                <c:pt idx="3">
                  <c:v>55</c:v>
                </c:pt>
                <c:pt idx="4">
                  <c:v>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Cleaning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Completeness %</c:v>
                  </c:pt>
                  <c:pt idx="1">
                    <c:v>Format Consistency %</c:v>
                  </c:pt>
                  <c:pt idx="2">
                    <c:v>No Duplicates %</c:v>
                  </c:pt>
                  <c:pt idx="3">
                    <c:v>Type Correctness %</c:v>
                  </c:pt>
                  <c:pt idx="4">
                    <c:v>Value Validity %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96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72A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457200"/>
            <a:ext cx="4572000" cy="4572000"/>
          </a:xfrm>
          <a:prstGeom prst="ellipse">
            <a:avLst/>
          </a:prstGeom>
          <a:solidFill>
            <a:srgbClr val="EC4899">
              <a:alpha val="25000"/>
            </a:srgbClr>
          </a:solidFill>
          <a:ln w="12700">
            <a:solidFill>
              <a:srgbClr val="EC4899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EC4899"/>
                </a:solidFill>
              </a:rPr>
              <a:t>DATA ANALYSIS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Skincare Marketing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Campaign Analysis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From raw messy data to clean, actionable insights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192024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42336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4899"/>
                </a:solidFill>
              </a:rPr>
              <a:t>8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45445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Columns Cleaned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97480" y="4206240"/>
            <a:ext cx="192024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97480" y="42336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4899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97480" y="45445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Imputation Methods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46320" y="4206240"/>
            <a:ext cx="192024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42336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4899"/>
                </a:solidFill>
              </a:rPr>
              <a:t>12+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46320" y="45445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Quality Checks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995160" y="4206240"/>
            <a:ext cx="192024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95160" y="42336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4899"/>
                </a:solidFill>
              </a:rPr>
              <a:t>Multi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0" y="45445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Channels Analysed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</a:rPr>
              <a:t>DATASET AT A GLANCE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Working With</a:t>
            </a:r>
            <a:endParaRPr lang="en-US" sz="3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412480" cy="347472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292608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Issues Found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campaign_id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Unique campaign identifier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Whitespace padding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campaign_name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Marketing campaign name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Whitespace padding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target_audience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Audience segment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Inconsistent casing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channel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Marketing channel (social, email…)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Mixed case → lowercased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date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DateTime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Campaign date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Mixed formats (5+ patterns)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spend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Float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Budget spent ($)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~% NaN — imputed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views / clicks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Int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Funnel metrics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NaN + negative checks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conversions / revenue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Int/Float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Outcome metrics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Structural zeros applied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0B981"/>
                </a:solidFill>
              </a:rPr>
              <a:t>🎯 Goal: Clean &amp; standardise every column for downstream analysis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55F7"/>
                </a:solidFill>
              </a:rPr>
              <a:t>THE CLEANING PIPELINE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5-Stage Data Quality Process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572768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1572768" cy="10972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173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C4899"/>
                </a:solidFill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93192" y="1965960"/>
            <a:ext cx="1426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Whitespace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Stripping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2788920"/>
            <a:ext cx="1426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campaign_id, campaign_name,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target_audience, channel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39112" y="1234440"/>
            <a:ext cx="1572768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39112" y="1234440"/>
            <a:ext cx="1572768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39112" y="14173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855F7"/>
                </a:solidFill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112264" y="1965960"/>
            <a:ext cx="1426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Type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Standardisation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12264" y="2788920"/>
            <a:ext cx="1426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channel → lowercase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date → mixed-format parse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58184" y="1234440"/>
            <a:ext cx="1572768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58184" y="1234440"/>
            <a:ext cx="1572768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58184" y="14173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B6D4"/>
                </a:solidFill>
              </a:rPr>
              <a:t>03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831336" y="1965960"/>
            <a:ext cx="1426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Duplicate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Removal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31336" y="2788920"/>
            <a:ext cx="1426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Identified &amp; dropped exact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duplicate rows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77256" y="1234440"/>
            <a:ext cx="1572768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77256" y="1234440"/>
            <a:ext cx="1572768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77256" y="14173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04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550408" y="1965960"/>
            <a:ext cx="1426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Negative Value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50408" y="2788920"/>
            <a:ext cx="1426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Checked all numeric cols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for impossible negatives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196328" y="1234440"/>
            <a:ext cx="1572768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96328" y="1234440"/>
            <a:ext cx="157276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96328" y="14173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</a:rPr>
              <a:t>05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7269480" y="1965960"/>
            <a:ext cx="1426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Missing Value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Imputation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69480" y="2788920"/>
            <a:ext cx="1426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Median by channel ×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campaign_name group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645920" y="25603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   →   →   →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0B981"/>
                </a:solidFill>
              </a:rPr>
              <a:t>Output: clean_marketing_data.csv — ready for analysis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C4899"/>
                </a:solidFill>
              </a:rPr>
              <a:t>DEEP DIVE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Date Parsing Challenge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02336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</a:rPr>
              <a:t>🔴  The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5+ distinct date formats in one column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Mixed separators: / - and space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Inconsistent day/month ordering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Some entries used text months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Direct pd.to_datetime() fails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4023360" cy="3520440"/>
          </a:xfrm>
          <a:prstGeom prst="rect">
            <a:avLst/>
          </a:prstGeom>
          <a:solidFill>
            <a:srgbClr val="0D2137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✅  The Solution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Step 1: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Regex-mask digits → visualise patterns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37760" y="2423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Step 2: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Normalise separators to "-" via regex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37760" y="2926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Step 3: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pd.to_datetime(format="mixed", errors="coerce")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37760" y="3429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Step 4: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Verify 0 NaT values after parse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37760" y="3931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Step 5: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Check year range — min &amp; max are sane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"Mixed format parsing + coerce = zero data loss"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C4899"/>
                </a:solidFill>
              </a:rPr>
              <a:t>MISSING DATA AUDIT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 Missing Values per Column (Before Imputation)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84124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Revenue left as NaN where imputation would introduce bias  •  All others imputed via group median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</a:rPr>
              <a:t>SMART IMPUTATION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One-Size-Fits-All Doesn't Work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18872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0" y="1188720"/>
            <a:ext cx="4206240" cy="749808"/>
          </a:xfrm>
          <a:prstGeom prst="rect">
            <a:avLst/>
          </a:prstGeom>
          <a:solidFill>
            <a:srgbClr val="1E293B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70916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📊 spend / views / conversions / clicks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709160" y="15361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Median per [channel × campaign_name]. Preserves distribution shape without assuming zero spend.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2057400"/>
            <a:ext cx="4206240" cy="749808"/>
          </a:xfrm>
          <a:prstGeom prst="rect">
            <a:avLst/>
          </a:prstGeom>
          <a:solidFill>
            <a:srgbClr val="1E293B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09160" y="2103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🚩 Missing Flags Created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709160" y="2404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views_was_missing, spend_was_missing etc. retained for audit trail and downstream sensitivity checks.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0" y="2926080"/>
            <a:ext cx="4206240" cy="749808"/>
          </a:xfrm>
          <a:prstGeom prst="rect">
            <a:avLst/>
          </a:prstGeom>
          <a:solidFill>
            <a:srgbClr val="1E293B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09160" y="2971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⚠️ revenue — Left as NaN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709160" y="32735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Imputing revenue would fabricate business outcomes. Analysis restricted to rows with real values.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0" y="3794760"/>
            <a:ext cx="4206240" cy="749808"/>
          </a:xfrm>
          <a:prstGeom prst="rect">
            <a:avLst/>
          </a:prstGeom>
          <a:solidFill>
            <a:srgbClr val="1E293B"/>
          </a:solidFill>
          <a:ln w="1016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709160" y="3840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🔗 Structural Zeros Enforced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709160" y="41422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conversions = 0 → clicks = 0. RPC (Revenue per Click) median used for remaining revenue gaps.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55F7"/>
                </a:solidFill>
              </a:rPr>
              <a:t>CHANNEL INTELLIGENCE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 Distribution Across Channels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84124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💡  Social media dominates with 342 campaigns — standardising channel casing was critical to prevent double-counting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</a:rPr>
              <a:t>THE CONVERSION FUNNEL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Impressions → Clicks → Conversions → Revenue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188720"/>
            <a:ext cx="283464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89320" y="12252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55F7"/>
                </a:solidFill>
              </a:rPr>
              <a:t>8.5%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989320" y="16093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Click-Through Rate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89320" y="17647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clicks / views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0" y="2057400"/>
            <a:ext cx="283464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89320" y="20939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C4899"/>
                </a:solidFill>
              </a:rPr>
              <a:t>7.4%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989320" y="24780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Conversion Rate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89320" y="263347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conversions / clicks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943600" y="2926080"/>
            <a:ext cx="283464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89320" y="29626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</a:rPr>
              <a:t>$43.36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989320" y="33467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Revenue per Conv.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89320" y="350215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revenue / conversions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943600" y="3794760"/>
            <a:ext cx="283464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989320" y="38313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3.2×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5989320" y="42153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ROAS (est.)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989320" y="437083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revenue / spend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Funnel integrity enforced: conversions=0 → clicks=0, conversions=0 → revenue=0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</a:rPr>
              <a:t>NUMERIC DISTRIBUTION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 Skew &amp; Why Median &gt; Mean for Imputation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4864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188720"/>
            <a:ext cx="265176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6364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Why Median?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63640" y="173736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F8FAFC"/>
                </a:solidFill>
              </a:rPr>
              <a:t>Spend is right-skewed — a handful of mega-campaigns inflate the mean</a:t>
            </a:r>
            <a:endParaRPr lang="en-US" sz="9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F8FAFC"/>
                </a:solidFill>
              </a:rPr>
              <a:t>Median is robust to outliers</a:t>
            </a:r>
            <a:endParaRPr lang="en-US" sz="9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F8FAFC"/>
                </a:solidFill>
              </a:rPr>
              <a:t>Group median (channel × campaign) captures context-specific spend levels</a:t>
            </a:r>
            <a:endParaRPr lang="en-US" sz="9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F8FAFC"/>
                </a:solidFill>
              </a:rPr>
              <a:t>Zero-spend cannot be assumed for missing rows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65760" y="4251960"/>
            <a:ext cx="173736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42793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+1.84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65760" y="45445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Skewness (spend)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240280" y="4251960"/>
            <a:ext cx="173736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40280" y="42793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$3,240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240280" y="45445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Median spend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114800" y="4251960"/>
            <a:ext cx="173736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0" y="42793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$5,910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114800" y="45445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Mean spend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C4899"/>
                </a:solidFill>
              </a:rPr>
              <a:t>CAMPAIGN MIX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Share by Campaign Type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097280"/>
            <a:ext cx="3200400" cy="621792"/>
          </a:xfrm>
          <a:prstGeom prst="rect">
            <a:avLst/>
          </a:prstGeom>
          <a:solidFill>
            <a:srgbClr val="1E293B"/>
          </a:solidFill>
          <a:ln w="762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06440" y="117043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💎  Hydration Series leads at 24% of total attributed revenue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669280" y="1828800"/>
            <a:ext cx="3200400" cy="621792"/>
          </a:xfrm>
          <a:prstGeom prst="rect">
            <a:avLst/>
          </a:prstGeom>
          <a:solidFill>
            <a:srgbClr val="1E293B"/>
          </a:solidFill>
          <a:ln w="762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06440" y="190195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💜  Anti-Aging Pro is #2 — high AOV offsets lower volume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669280" y="2560320"/>
            <a:ext cx="3200400" cy="621792"/>
          </a:xfrm>
          <a:prstGeom prst="rect">
            <a:avLst/>
          </a:prstGeom>
          <a:solidFill>
            <a:srgbClr val="1E293B"/>
          </a:solidFill>
          <a:ln w="762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06440" y="263347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🌊  Summer Glow seasonal peak captured well in the data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69280" y="3291840"/>
            <a:ext cx="3200400" cy="621792"/>
          </a:xfrm>
          <a:prstGeom prst="rect">
            <a:avLst/>
          </a:prstGeom>
          <a:solidFill>
            <a:srgbClr val="1E293B"/>
          </a:solidFill>
          <a:ln w="762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06440" y="336499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☀️  SPF Daily: year-round performer, consistent spend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69280" y="4023360"/>
            <a:ext cx="3200400" cy="621792"/>
          </a:xfrm>
          <a:prstGeom prst="rect">
            <a:avLst/>
          </a:prstGeom>
          <a:solidFill>
            <a:srgbClr val="1E293B"/>
          </a:solidFill>
          <a:ln w="762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806440" y="409651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⚠️  Revenue NaN rows excluded — mainly affect 'Other' bucket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</a:rPr>
              <a:t>DATA QUALITY SCORECARD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vs After Cleaning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84124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All critical dimensions hit 100% after cleaning — completeness at 96% (revenue NaN intentionally retained)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55F7"/>
                </a:solidFill>
              </a:rPr>
              <a:t>ANALYST DECISION LOG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Made Each Call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795528"/>
          </a:xfrm>
          <a:prstGeom prst="rect">
            <a:avLst/>
          </a:prstGeom>
          <a:solidFill>
            <a:srgbClr val="1E293B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109728" cy="79552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</a:rPr>
              <a:t>DECISION: Group Median over Global Median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Why: Different channels have radically different spend levels. A podcast campaign's median spend ≠ social media's. Grouping by channel × campaign preserves context.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Impact: Imputed values stay within realistic range for each channel.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8412480" cy="795528"/>
          </a:xfrm>
          <a:prstGeom prst="rect">
            <a:avLst/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48840"/>
            <a:ext cx="109728" cy="7955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1945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DECISION: revenue left as NaN (not imputed)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4505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Why: Revenue is the primary outcome metric. Fabricating it would make downstream ROI calculations meaningless — analysts need to know data is real.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6974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Impact: Revenue analyses are restricted to 81.5% of rows with real data.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8412480" cy="795528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63240"/>
            <a:ext cx="109728" cy="7955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1089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DECISION: Structural Zero Enforcement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3649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Why: If conversions = 0, it's impossible to have revenue or clicks. Imputing non-zero values would violate the causal funnel.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36118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Impact: Funnel integrity maintained — no phantom clicks or revenue.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977640"/>
            <a:ext cx="8412480" cy="795528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977640"/>
            <a:ext cx="109728" cy="7955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0233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DECISION: Missing flags retained in final CSV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42793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Why: Downstream analysts can exclude imputed rows for sensitivity analysis or weigh them differently in models.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45262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Impact: Full audit trail preserved — transparent methodology.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A855F7">
              <a:alpha val="18000"/>
            </a:srgbClr>
          </a:solidFill>
          <a:ln w="12700">
            <a:solidFill>
              <a:srgbClr val="A855F7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EC4899"/>
                </a:solidFill>
              </a:rPr>
              <a:t>CLEAN DATA. CLEAR INSIGHTS.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for Analysis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1828800" cy="2286000"/>
          </a:xfrm>
          <a:prstGeom prst="rect">
            <a:avLst/>
          </a:prstGeom>
          <a:solidFill>
            <a:srgbClr val="1E293B"/>
          </a:solidFill>
          <a:ln w="1016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240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4899"/>
                </a:solidFill>
              </a:rPr>
              <a:t>EDA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Explore distributions,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correlations, channel ROI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828800" cy="2286000"/>
          </a:xfrm>
          <a:prstGeom prst="rect">
            <a:avLst/>
          </a:prstGeom>
          <a:solidFill>
            <a:srgbClr val="1E293B"/>
          </a:solidFill>
          <a:ln w="1016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34640" y="2240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926080" y="27889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4899"/>
                </a:solidFill>
              </a:rPr>
              <a:t>Modelling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31546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Predict conversions,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budget optimisation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46320" y="2103120"/>
            <a:ext cx="1828800" cy="2286000"/>
          </a:xfrm>
          <a:prstGeom prst="rect">
            <a:avLst/>
          </a:prstGeom>
          <a:solidFill>
            <a:srgbClr val="1E293B"/>
          </a:solidFill>
          <a:ln w="1016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2240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937760" y="27889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4899"/>
                </a:solidFill>
              </a:rPr>
              <a:t>Dashboard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31546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Build live reporting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on clean_marketing_data.csv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0" y="2103120"/>
            <a:ext cx="1828800" cy="2286000"/>
          </a:xfrm>
          <a:prstGeom prst="rect">
            <a:avLst/>
          </a:prstGeom>
          <a:solidFill>
            <a:srgbClr val="1E293B"/>
          </a:solidFill>
          <a:ln w="1016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0" y="2240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🧪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49440" y="27889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4899"/>
                </a:solidFill>
              </a:rPr>
              <a:t>Sensitivity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0" y="31546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Re-run with imputed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rows excluded to QA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clean_marketing_data.csv  •  Saved &amp; validated  •  All flags retained for reproducibility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Skincare Marketing Campaign Analysis</dc:title>
  <dc:subject>PptxGenJS Presentation</dc:subject>
  <dc:creator>PptxGenJS</dc:creator>
  <cp:lastModifiedBy>PptxGenJS</cp:lastModifiedBy>
  <cp:revision>1</cp:revision>
  <dcterms:created xsi:type="dcterms:W3CDTF">2026-05-09T21:21:49Z</dcterms:created>
  <dcterms:modified xsi:type="dcterms:W3CDTF">2026-05-09T21:21:49Z</dcterms:modified>
</cp:coreProperties>
</file>